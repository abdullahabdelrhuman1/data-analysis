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6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</p:sldIdLst>
  <p:sldSz cx="9144000" cy="5143500"/>
  <p:notesSz cx="6858000" cy="9144000"/>
  <p:embeddedFontLst>
    <p:embeddedFont>
      <p:font typeface="Montserrat Black"/>
      <p:bold r:id="rId13"/>
    </p:embeddedFont>
    <p:embeddedFont>
      <p:font typeface="Montserrat"/>
      <p:regular r:id="rId14"/>
      <p:bold r:id="rId15"/>
      <p:italic r:id="rId16"/>
      <p:boldItalic r:id="rId17"/>
    </p:embeddedFont>
    <p:embeddedFont>
      <p:font typeface="Montserrat Medium"/>
      <p:regular r:id="rId18"/>
      <p:bold r:id="rId19"/>
      <p:italic r:id="rId20"/>
      <p:boldItalic r:id="rId21"/>
    </p:embeddedFont>
    <p:embeddedFont>
      <p:font typeface="Montserrat ExtraBold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font" Target="fonts/font10.fntdata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:notes"/>
          <p:cNvSpPr/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id May 2021">
  <p:cSld name="CUSTOM_1_1_1_1_1_1_1_1_1_1_3_1_1_4">
    <p:bg>
      <p:bgPr>
        <a:solidFill>
          <a:schemeClr val="lt2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суждение 1">
  <p:cSld name="CUSTOM_1_1_1_1_1_1_1_1_1_1_3_1_1_4_1_1_2">
    <p:bg>
      <p:bgPr>
        <a:solidFill>
          <a:schemeClr val="lt1"/>
        </a:solidFill>
        <a:effectLst/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12;p3"/>
          <p:cNvSpPr txBox="1"/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 Medium"/>
              <a:buNone/>
              <a:defRPr sz="12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3" name="Google Shape;13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24017" y="4444625"/>
            <a:ext cx="534575" cy="5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вторение">
  <p:cSld name="CUSTOM_1_1_1_1_1_1_1_1_1_1_3_1_1_4_1">
    <p:bg>
      <p:bgPr>
        <a:solidFill>
          <a:schemeClr val="lt2"/>
        </a:solidFill>
        <a:effectLst/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4"/>
          <p:cNvCxnSpPr/>
          <p:nvPr/>
        </p:nvCxnSpPr>
        <p:spPr>
          <a:xfrm>
            <a:off x="1100075" y="4775638"/>
            <a:ext cx="7663200" cy="0"/>
          </a:xfrm>
          <a:prstGeom prst="straightConnector1">
            <a:avLst/>
          </a:prstGeom>
          <a:noFill/>
          <a:ln w="19050" cap="flat" cmpd="sng">
            <a:solidFill>
              <a:srgbClr val="FFB4B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Google Shape;16;p4"/>
          <p:cNvPicPr preferRelativeResize="0"/>
          <p:nvPr/>
        </p:nvPicPr>
        <p:blipFill rotWithShape="1">
          <a:blip r:embed="rId2"/>
          <a:srcRect t="2651" b="2651"/>
          <a:stretch>
            <a:fillRect/>
          </a:stretch>
        </p:blipFill>
        <p:spPr>
          <a:xfrm>
            <a:off x="8282897" y="4506549"/>
            <a:ext cx="445112" cy="3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/>
          <p:nvPr/>
        </p:nvSpPr>
        <p:spPr>
          <a:xfrm>
            <a:off x="355500" y="4628050"/>
            <a:ext cx="31605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FFB4B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Повторение. Устройство компьютера</a:t>
            </a:r>
            <a:endParaRPr sz="1200" b="0" i="0" u="none" strike="noStrike" cap="none">
              <a:solidFill>
                <a:srgbClr val="FFB4B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суждение">
  <p:cSld name="CUSTOM_1_1_1_1_1_1_1_1_1_1_3_1_1_4_1_1">
    <p:bg>
      <p:bgPr>
        <a:solidFill>
          <a:schemeClr val="lt2"/>
        </a:solidFill>
        <a:effectLst/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5"/>
          <p:cNvCxnSpPr/>
          <p:nvPr/>
        </p:nvCxnSpPr>
        <p:spPr>
          <a:xfrm>
            <a:off x="1106800" y="4772540"/>
            <a:ext cx="7675200" cy="0"/>
          </a:xfrm>
          <a:prstGeom prst="straightConnector1">
            <a:avLst/>
          </a:prstGeom>
          <a:noFill/>
          <a:ln w="19050" cap="flat" cmpd="sng">
            <a:solidFill>
              <a:srgbClr val="8EDBB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5"/>
          <p:cNvPicPr preferRelativeResize="0"/>
          <p:nvPr/>
        </p:nvPicPr>
        <p:blipFill rotWithShape="1">
          <a:blip r:embed="rId2"/>
          <a:srcRect l="13147" t="17774" r="14571" b="9440"/>
          <a:stretch>
            <a:fillRect/>
          </a:stretch>
        </p:blipFill>
        <p:spPr>
          <a:xfrm>
            <a:off x="8357005" y="4469646"/>
            <a:ext cx="395325" cy="427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/>
          <p:nvPr/>
        </p:nvSpPr>
        <p:spPr>
          <a:xfrm>
            <a:off x="358325" y="4628150"/>
            <a:ext cx="31605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8EDBB1"/>
                </a:solidFill>
                <a:highlight>
                  <a:schemeClr val="lt2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Устройство компьютера. Обсуждение</a:t>
            </a:r>
            <a:endParaRPr sz="1200" b="0" i="0" u="none" strike="noStrike" cap="none">
              <a:solidFill>
                <a:srgbClr val="8EDBB1"/>
              </a:solidFill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овая тема">
  <p:cSld name="CUSTOM_1_1_1_1_1_1_1_1_1_1_3_1_1_4_1_1_1">
    <p:bg>
      <p:bgPr>
        <a:solidFill>
          <a:schemeClr val="lt2"/>
        </a:solidFill>
        <a:effectLst/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6"/>
          <p:cNvCxnSpPr/>
          <p:nvPr/>
        </p:nvCxnSpPr>
        <p:spPr>
          <a:xfrm>
            <a:off x="1106800" y="4774908"/>
            <a:ext cx="7675200" cy="0"/>
          </a:xfrm>
          <a:prstGeom prst="straightConnector1">
            <a:avLst/>
          </a:prstGeom>
          <a:noFill/>
          <a:ln w="19050" cap="flat" cmpd="sng">
            <a:solidFill>
              <a:srgbClr val="FFA0B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6"/>
          <p:cNvSpPr/>
          <p:nvPr/>
        </p:nvSpPr>
        <p:spPr>
          <a:xfrm>
            <a:off x="358325" y="4627299"/>
            <a:ext cx="30918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FFA0B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Новая тема. Устройство компьютера</a:t>
            </a:r>
            <a:endParaRPr sz="1200" b="0" i="0" u="none" strike="noStrike" cap="none">
              <a:solidFill>
                <a:srgbClr val="FFA0B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5" name="Google Shape;25;p6"/>
          <p:cNvPicPr preferRelativeResize="0"/>
          <p:nvPr/>
        </p:nvPicPr>
        <p:blipFill rotWithShape="1">
          <a:blip r:embed="rId2"/>
          <a:srcRect l="15635" r="10683" b="-9914"/>
          <a:stretch>
            <a:fillRect/>
          </a:stretch>
        </p:blipFill>
        <p:spPr>
          <a:xfrm>
            <a:off x="8395550" y="4537073"/>
            <a:ext cx="322650" cy="4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бота на платформе">
  <p:cSld name="CUSTOM_1_1_1_1_1_1_1_1_1_1_3_1_1_4_1_1_1_2">
    <p:bg>
      <p:bgPr>
        <a:solidFill>
          <a:schemeClr val="lt2"/>
        </a:solidFill>
        <a:effectLst/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7"/>
          <p:cNvCxnSpPr/>
          <p:nvPr/>
        </p:nvCxnSpPr>
        <p:spPr>
          <a:xfrm>
            <a:off x="1106800" y="4774187"/>
            <a:ext cx="7675200" cy="0"/>
          </a:xfrm>
          <a:prstGeom prst="straightConnector1">
            <a:avLst/>
          </a:prstGeom>
          <a:noFill/>
          <a:ln w="19050" cap="flat" cmpd="sng">
            <a:solidFill>
              <a:srgbClr val="B99D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7"/>
          <p:cNvSpPr/>
          <p:nvPr/>
        </p:nvSpPr>
        <p:spPr>
          <a:xfrm>
            <a:off x="358325" y="4629797"/>
            <a:ext cx="18288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B99D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Работа на платформе</a:t>
            </a:r>
            <a:endParaRPr sz="1200" b="0" i="0" u="none" strike="noStrike" cap="none">
              <a:solidFill>
                <a:srgbClr val="B99DC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/>
          <a:srcRect l="16558" t="11212" r="8072" b="11459"/>
          <a:stretch>
            <a:fillRect/>
          </a:stretch>
        </p:blipFill>
        <p:spPr>
          <a:xfrm>
            <a:off x="8351696" y="4487862"/>
            <a:ext cx="426275" cy="3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вершение урока">
  <p:cSld name="CUSTOM_1_1_1_1_1_1_1_1_1_1_3_1_1_4_1_1_1_1">
    <p:bg>
      <p:bgPr>
        <a:solidFill>
          <a:schemeClr val="lt2"/>
        </a:solidFill>
        <a:effectLst/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Google Shape;31;p8"/>
          <p:cNvCxnSpPr/>
          <p:nvPr/>
        </p:nvCxnSpPr>
        <p:spPr>
          <a:xfrm>
            <a:off x="1108638" y="4773762"/>
            <a:ext cx="7675200" cy="0"/>
          </a:xfrm>
          <a:prstGeom prst="straightConnector1">
            <a:avLst/>
          </a:prstGeom>
          <a:noFill/>
          <a:ln w="19050" cap="flat" cmpd="sng">
            <a:solidFill>
              <a:srgbClr val="A4E7F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8"/>
          <p:cNvSpPr/>
          <p:nvPr/>
        </p:nvSpPr>
        <p:spPr>
          <a:xfrm>
            <a:off x="360150" y="4626153"/>
            <a:ext cx="16788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A4E7F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Завершение урока</a:t>
            </a:r>
            <a:endParaRPr sz="1200" b="0" i="0" u="none" strike="noStrike" cap="none">
              <a:solidFill>
                <a:srgbClr val="A4E7FA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41799" y="4325375"/>
            <a:ext cx="529050" cy="4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суждение">
  <p:cSld name="CUSTOM_1_1_1_1_1_1_1_1_1_1_3_1_1_4_1_1">
    <p:bg>
      <p:bgPr>
        <a:solidFill>
          <a:schemeClr val="lt1"/>
        </a:solidFill>
        <a:effectLst/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0" name="Google Shape;40;p10"/>
          <p:cNvSpPr txBox="1"/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 Medium"/>
              <a:buNone/>
              <a:defRPr sz="12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41" name="Google Shape;41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24017" y="4444625"/>
            <a:ext cx="534575" cy="5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 Май 2021">
  <p:cSld name="CUSTOM_1_1_1_1_1_1_1_1_1_1_3_1_1_4">
    <p:bg>
      <p:bgPr>
        <a:solidFill>
          <a:schemeClr val="accent1"/>
        </a:solidFill>
        <a:effectLst/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/>
        </p:nvSpPr>
        <p:spPr>
          <a:xfrm>
            <a:off x="636830" y="4404303"/>
            <a:ext cx="19875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Скачать методичку</a:t>
            </a:r>
            <a:endParaRPr sz="1400" b="0" i="0" u="none" strike="noStrike" cap="non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39926" y="4596227"/>
            <a:ext cx="266925" cy="2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2925" y="345875"/>
            <a:ext cx="1756800" cy="4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/>
          <p:nvPr>
            <p:ph type="subTitle" idx="1"/>
          </p:nvPr>
        </p:nvSpPr>
        <p:spPr>
          <a:xfrm>
            <a:off x="352925" y="1473400"/>
            <a:ext cx="8108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7" name="Google Shape;47;p11"/>
          <p:cNvSpPr txBox="1"/>
          <p:nvPr>
            <p:ph type="title"/>
          </p:nvPr>
        </p:nvSpPr>
        <p:spPr>
          <a:xfrm>
            <a:off x="352925" y="1859151"/>
            <a:ext cx="4224300" cy="2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 Май 2021 1">
  <p:cSld name="CUSTOM_1_1_1_1_1_1_1_1_1_1_3_1_1_4_5">
    <p:bg>
      <p:bgPr>
        <a:solidFill>
          <a:schemeClr val="accent1"/>
        </a:solidFill>
        <a:effectLst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2925" y="345875"/>
            <a:ext cx="1756800" cy="4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2"/>
          <p:cNvSpPr txBox="1"/>
          <p:nvPr>
            <p:ph type="subTitle" idx="1"/>
          </p:nvPr>
        </p:nvSpPr>
        <p:spPr>
          <a:xfrm>
            <a:off x="352925" y="1473400"/>
            <a:ext cx="8108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1" name="Google Shape;51;p12"/>
          <p:cNvSpPr txBox="1"/>
          <p:nvPr>
            <p:ph type="title"/>
          </p:nvPr>
        </p:nvSpPr>
        <p:spPr>
          <a:xfrm>
            <a:off x="352925" y="1859150"/>
            <a:ext cx="4219200" cy="2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Повторение»">
  <p:cSld name="CUSTOM_1_1_1_1_1_1_1_1_1_1_3_1_1_4_4">
    <p:bg>
      <p:bgPr>
        <a:solidFill>
          <a:schemeClr val="accent2"/>
        </a:solidFill>
        <a:effectLst/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4" name="Google Shape;54;p13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3"/>
          <a:srcRect t="1900" r="-8236" b="-1899"/>
          <a:stretch>
            <a:fillRect/>
          </a:stretch>
        </p:blipFill>
        <p:spPr>
          <a:xfrm>
            <a:off x="6801225" y="3159807"/>
            <a:ext cx="1822349" cy="15458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Новая тема»">
  <p:cSld name="CUSTOM_1_1_1_1_1_1_1_1_1_1_3_1_1_4_4_1">
    <p:bg>
      <p:bgPr>
        <a:solidFill>
          <a:schemeClr val="accent5"/>
        </a:solidFill>
        <a:effectLst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" name="Google Shape;61;p14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/>
          <a:srcRect l="-11184" t="60" r="-21335" b="-59"/>
          <a:stretch>
            <a:fillRect/>
          </a:stretch>
        </p:blipFill>
        <p:spPr>
          <a:xfrm>
            <a:off x="6759550" y="3011700"/>
            <a:ext cx="1950027" cy="165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Обсуждение»">
  <p:cSld name="CUSTOM_1_1_1_1_1_1_1_1_1_1_3_1_1_4_4_1_1">
    <p:bg>
      <p:bgPr>
        <a:solidFill>
          <a:schemeClr val="accent4"/>
        </a:solidFill>
        <a:effectLst/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" name="Google Shape;68;p15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/>
          <a:srcRect t="-2827" r="-33743"/>
          <a:stretch>
            <a:fillRect/>
          </a:stretch>
        </p:blipFill>
        <p:spPr>
          <a:xfrm>
            <a:off x="6912650" y="2968400"/>
            <a:ext cx="2001076" cy="169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Групповая работа»">
  <p:cSld name="CUSTOM_1_1_1_1_1_1_1_1_1_1_3_1_1_4_4_1_1_1">
    <p:bg>
      <p:bgPr>
        <a:solidFill>
          <a:schemeClr val="lt2"/>
        </a:solidFill>
        <a:effectLst/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" name="Google Shape;75;p16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33375" y="3011700"/>
            <a:ext cx="2748550" cy="165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Работа на платформе»">
  <p:cSld name="CUSTOM_1_1_1_1_1_1_1_1_1_1_3_1_1_4_4_1_1_1_1">
    <p:bg>
      <p:bgPr>
        <a:solidFill>
          <a:schemeClr val="accent1"/>
        </a:solidFill>
        <a:effectLst/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2" name="Google Shape;82;p17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3"/>
          <a:srcRect r="-8260"/>
          <a:stretch>
            <a:fillRect/>
          </a:stretch>
        </p:blipFill>
        <p:spPr>
          <a:xfrm>
            <a:off x="6414050" y="2927125"/>
            <a:ext cx="2049726" cy="173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Перерыв»">
  <p:cSld name="CUSTOM_1_1_1_1_1_1_1_1_1_1_3_1_1_4_4_1_1_1_1_1">
    <p:bg>
      <p:bgPr>
        <a:solidFill>
          <a:schemeClr val="accent6"/>
        </a:solidFill>
        <a:effectLst/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9" name="Google Shape;89;p18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3"/>
          <a:srcRect l="-5793" r="-4350"/>
          <a:stretch>
            <a:fillRect/>
          </a:stretch>
        </p:blipFill>
        <p:spPr>
          <a:xfrm>
            <a:off x="6589951" y="3011700"/>
            <a:ext cx="1950026" cy="16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Физкультминутка»">
  <p:cSld name="CUSTOM_1_1_1_1_1_1_1_1_1_1_3_1_1_4_4_1_1_1_1_1_1">
    <p:bg>
      <p:bgPr>
        <a:solidFill>
          <a:schemeClr val="accent6"/>
        </a:soli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6" name="Google Shape;96;p19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30113" y="3011700"/>
            <a:ext cx="2093949" cy="16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Завершение урока»">
  <p:cSld name="CUSTOM_1_1_1_1_1_1_1_1_1_1_3_1_1_4_4_1_1_1_1_1_1_1">
    <p:bg>
      <p:bgPr>
        <a:solidFill>
          <a:schemeClr val="accent3"/>
        </a:solidFill>
        <a:effectLst/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3" name="Google Shape;103;p20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53600" y="3108084"/>
            <a:ext cx="2674100" cy="1557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Демонстрация работы»">
  <p:cSld name="CUSTOM_1_1_1_1_1_1_1_1_1_1_3_1_1_4_4_1_1_1_1_1_1_1_1">
    <p:bg>
      <p:bgPr>
        <a:solidFill>
          <a:srgbClr val="C291FF"/>
        </a:solidFill>
        <a:effectLst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0" name="Google Shape;110;p21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14" name="Google Shape;114;p21"/>
          <p:cNvPicPr preferRelativeResize="0"/>
          <p:nvPr/>
        </p:nvPicPr>
        <p:blipFill rotWithShape="1">
          <a:blip r:embed="rId3"/>
          <a:srcRect l="-3199" t="3865" b="-6398"/>
          <a:stretch>
            <a:fillRect/>
          </a:stretch>
        </p:blipFill>
        <p:spPr>
          <a:xfrm>
            <a:off x="6768750" y="3069172"/>
            <a:ext cx="1606549" cy="1509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 May 2021">
  <p:cSld name="CUSTOM_1_1_1_1_1_1_1_1_1_1_3_1_1_4_3">
    <p:bg>
      <p:bgPr>
        <a:solidFill>
          <a:schemeClr val="lt1"/>
        </a:solidFill>
        <a:effectLst/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вторение">
  <p:cSld name="CUSTOM_1_1_1_1_1_1_1_1_1_1_3_1_1_4_2">
    <p:bg>
      <p:bgPr>
        <a:solidFill>
          <a:schemeClr val="lt1"/>
        </a:solidFill>
        <a:effectLst/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8" name="Google Shape;118;p23"/>
          <p:cNvSpPr txBox="1"/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None/>
              <a:defRPr sz="12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19" name="Google Shape;119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68100" y="4456389"/>
            <a:ext cx="627842" cy="5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вторение. Заголовок. Текст.">
  <p:cSld name="CUSTOM_1_1_1_1_1_1_1_1_1_1_3_1_1_4_2_1">
    <p:bg>
      <p:bgPr>
        <a:solidFill>
          <a:schemeClr val="lt1"/>
        </a:solidFill>
        <a:effectLst/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2" name="Google Shape;122;p24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type="body" idx="1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type="subTitle" idx="2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None/>
              <a:defRPr sz="12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25" name="Google Shape;125;p2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68100" y="4456389"/>
            <a:ext cx="627842" cy="5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суждение. Заголовок. Текст.">
  <p:cSld name="CUSTOM_1_1_1_1_1_1_1_1_1_1_3_1_1_4_1_1_2">
    <p:bg>
      <p:bgPr>
        <a:solidFill>
          <a:schemeClr val="lt1"/>
        </a:solidFill>
        <a:effectLst/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8" name="Google Shape;128;p25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type="body" idx="1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type="subTitle" idx="2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 Medium"/>
              <a:buNone/>
              <a:defRPr sz="12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24017" y="4444625"/>
            <a:ext cx="534575" cy="5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овая тема">
  <p:cSld name="CUSTOM_1_1_1_1_1_1_1_1_1_1_3_1_1_4_1_1_1">
    <p:bg>
      <p:bgPr>
        <a:solidFill>
          <a:schemeClr val="lt1"/>
        </a:solidFill>
        <a:effectLst/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4" name="Google Shape;134;p26"/>
          <p:cNvSpPr txBox="1"/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 Medium"/>
              <a:buNone/>
              <a:defRPr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35" name="Google Shape;135;p2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262736" y="4445275"/>
            <a:ext cx="531725" cy="5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овая тема. Заголовок. Текст.">
  <p:cSld name="CUSTOM_1_1_1_1_1_1_1_1_1_1_3_1_1_4_1_1_1_3">
    <p:bg>
      <p:bgPr>
        <a:solidFill>
          <a:schemeClr val="lt1"/>
        </a:solidFill>
        <a:effectLst/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8" name="Google Shape;138;p27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9" name="Google Shape;139;p27"/>
          <p:cNvSpPr txBox="1"/>
          <p:nvPr>
            <p:ph type="body" idx="1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type="subTitle" idx="2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 Medium"/>
              <a:buNone/>
              <a:defRPr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41" name="Google Shape;141;p2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262736" y="4445275"/>
            <a:ext cx="531725" cy="5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бота на платформе">
  <p:cSld name="CUSTOM_1_1_1_1_1_1_1_1_1_1_3_1_1_4_1_1_1_2">
    <p:bg>
      <p:bgPr>
        <a:solidFill>
          <a:schemeClr val="lt1"/>
        </a:solidFill>
        <a:effectLst/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4" name="Google Shape;144;p28"/>
          <p:cNvSpPr txBox="1"/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 Medium"/>
              <a:buNone/>
              <a:defRPr sz="12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45" name="Google Shape;145;p2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12278" y="4422100"/>
            <a:ext cx="676445" cy="6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бота на платформе. Заголовок. Текст.">
  <p:cSld name="CUSTOM_1_1_1_1_1_1_1_1_1_1_3_1_1_4_1_1_1_2_1">
    <p:bg>
      <p:bgPr>
        <a:solidFill>
          <a:schemeClr val="lt1"/>
        </a:solidFill>
        <a:effectLst/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8" name="Google Shape;148;p29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9" name="Google Shape;149;p29"/>
          <p:cNvSpPr txBox="1"/>
          <p:nvPr>
            <p:ph type="body" idx="1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50" name="Google Shape;150;p29"/>
          <p:cNvSpPr txBox="1"/>
          <p:nvPr>
            <p:ph type="subTitle" idx="2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 Medium"/>
              <a:buNone/>
              <a:defRPr sz="12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12278" y="4422100"/>
            <a:ext cx="676445" cy="6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вершение урока">
  <p:cSld name="CUSTOM_1_1_1_1_1_1_1_1_1_1_3_1_1_4_1_1_1_1">
    <p:bg>
      <p:bgPr>
        <a:solidFill>
          <a:schemeClr val="lt1"/>
        </a:solidFill>
        <a:effectLst/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4" name="Google Shape;154;p30"/>
          <p:cNvSpPr txBox="1"/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Montserrat Medium"/>
              <a:buNone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55" name="Google Shape;155;p3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65728" y="4457800"/>
            <a:ext cx="990461" cy="57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вершение урока. Заголовок. Текст.">
  <p:cSld name="CUSTOM_1_1_1_1_1_1_1_1_1_1_3_1_1_4_1_1_1_1_2">
    <p:bg>
      <p:bgPr>
        <a:solidFill>
          <a:schemeClr val="lt1"/>
        </a:solidFill>
        <a:effectLst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8" name="Google Shape;158;p31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9" name="Google Shape;159;p31"/>
          <p:cNvSpPr txBox="1"/>
          <p:nvPr>
            <p:ph type="body" idx="1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60" name="Google Shape;160;p31"/>
          <p:cNvSpPr txBox="1"/>
          <p:nvPr>
            <p:ph type="subTitle" idx="2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Montserrat Medium"/>
              <a:buNone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61" name="Google Shape;161;p3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865728" y="4457800"/>
            <a:ext cx="990461" cy="57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зкультминутка. Заголовок. Текст.">
  <p:cSld name="CUSTOM_1_1_1_1_1_1_1_1_1_1_3_1_1_4_1_1_1_1_1">
    <p:bg>
      <p:bgPr>
        <a:solidFill>
          <a:schemeClr val="lt1"/>
        </a:solidFill>
        <a:effectLst/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4" name="Google Shape;164;p32"/>
          <p:cNvSpPr/>
          <p:nvPr/>
        </p:nvSpPr>
        <p:spPr>
          <a:xfrm>
            <a:off x="360000" y="4680000"/>
            <a:ext cx="6346200" cy="22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Физультминутка</a:t>
            </a:r>
            <a:endParaRPr sz="1200" b="0" i="0" u="none" strike="noStrike" cap="none">
              <a:solidFill>
                <a:schemeClr val="accent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5" name="Google Shape;165;p32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6" name="Google Shape;166;p32"/>
          <p:cNvSpPr txBox="1"/>
          <p:nvPr>
            <p:ph type="body" idx="1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pic>
        <p:nvPicPr>
          <p:cNvPr id="167" name="Google Shape;167;p3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59631" y="4434850"/>
            <a:ext cx="764300" cy="6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зкультминутка">
  <p:cSld name="CUSTOM_1_1_1_1_1_1_1_1_1_1_3_1_1_4_1_1_1_1_1_2">
    <p:bg>
      <p:bgPr>
        <a:solidFill>
          <a:schemeClr val="lt1"/>
        </a:solidFill>
        <a:effectLst/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0" name="Google Shape;170;p33"/>
          <p:cNvSpPr/>
          <p:nvPr/>
        </p:nvSpPr>
        <p:spPr>
          <a:xfrm>
            <a:off x="360000" y="4680000"/>
            <a:ext cx="6346200" cy="22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Перерыв</a:t>
            </a:r>
            <a:endParaRPr sz="1200" b="0" i="0" u="none" strike="noStrike" cap="none">
              <a:solidFill>
                <a:schemeClr val="accent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275017" y="4422325"/>
            <a:ext cx="655910" cy="61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емонстрация работы в редакторе">
  <p:cSld name="CUSTOM_1_1_1_1_1_1_1_1_1_1_3_1_1_4_1_1_1_1_1_2_1">
    <p:bg>
      <p:bgPr>
        <a:solidFill>
          <a:schemeClr val="lt1"/>
        </a:solidFill>
        <a:effectLst/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rgbClr val="C29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4" name="Google Shape;174;p34"/>
          <p:cNvSpPr txBox="1"/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91FF"/>
              </a:buClr>
              <a:buSzPts val="1200"/>
              <a:buFont typeface="Montserrat Medium"/>
              <a:buNone/>
              <a:defRPr sz="1200">
                <a:solidFill>
                  <a:srgbClr val="C291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75" name="Google Shape;175;p3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284425" y="4415281"/>
            <a:ext cx="591157" cy="56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упповая работа">
  <p:cSld name="CUSTOM_1_1_1_1_1_1_1_1_1_1_3_1_1_4_1_1_1_1_1_1">
    <p:bg>
      <p:bgPr>
        <a:solidFill>
          <a:schemeClr val="lt1"/>
        </a:solidFill>
        <a:effectLst/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8" name="Google Shape;178;p35"/>
          <p:cNvSpPr txBox="1"/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79" name="Google Shape;179;p3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909563" y="4453277"/>
            <a:ext cx="975600" cy="586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упповая работа. Заголовок. Текст.">
  <p:cSld name="CUSTOM_1_1_1_1_1_1_1_1_1_1_3_1_1_4_1_1_1_1_1_1_1">
    <p:bg>
      <p:bgPr>
        <a:solidFill>
          <a:schemeClr val="lt1"/>
        </a:solidFill>
        <a:effectLst/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2" name="Google Shape;182;p36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type="body" idx="1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pic>
        <p:nvPicPr>
          <p:cNvPr id="184" name="Google Shape;184;p3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909563" y="4453277"/>
            <a:ext cx="975600" cy="58685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6"/>
          <p:cNvSpPr txBox="1"/>
          <p:nvPr>
            <p:ph type="subTitle" idx="2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27.xml"/><Relationship Id="rId2" Type="http://schemas.openxmlformats.org/officeDocument/2006/relationships/slideLayout" Target="../slideLayouts/slideLayout9.xml"/><Relationship Id="rId19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67025" y="367025"/>
            <a:ext cx="84171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body" idx="1"/>
          </p:nvPr>
        </p:nvSpPr>
        <p:spPr>
          <a:xfrm>
            <a:off x="367025" y="973450"/>
            <a:ext cx="84171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367025" y="367025"/>
            <a:ext cx="84171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7" name="Google Shape;37;p9"/>
          <p:cNvSpPr txBox="1"/>
          <p:nvPr>
            <p:ph type="body" idx="1"/>
          </p:nvPr>
        </p:nvSpPr>
        <p:spPr>
          <a:xfrm>
            <a:off x="367025" y="973450"/>
            <a:ext cx="84171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79" r:id="rId23"/>
    <p:sldLayoutId id="2147483680" r:id="rId24"/>
    <p:sldLayoutId id="2147483681" r:id="rId25"/>
    <p:sldLayoutId id="2147483682" r:id="rId26"/>
    <p:sldLayoutId id="2147483683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C75"/>
        </a:solidFill>
        <a:effectLst/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/>
          <p:nvPr/>
        </p:nvSpPr>
        <p:spPr>
          <a:xfrm>
            <a:off x="368150" y="1856561"/>
            <a:ext cx="4017900" cy="14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4000">
                <a:solidFill>
                  <a:srgbClr val="602B7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Pitching: product’s idea</a:t>
            </a:r>
            <a:endParaRPr sz="4000" b="0" i="0" u="none" strike="noStrike" cap="none">
              <a:solidFill>
                <a:srgbClr val="602B7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91" name="Google Shape;191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72000" y="994850"/>
            <a:ext cx="4211999" cy="3224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/>
        </p:nvSpPr>
        <p:spPr>
          <a:xfrm>
            <a:off x="360000" y="360000"/>
            <a:ext cx="84240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US" altLang="en-GB" sz="2800">
                <a:latin typeface="Montserrat Black"/>
                <a:ea typeface="Montserrat Black"/>
                <a:cs typeface="Montserrat Black"/>
                <a:sym typeface="Montserrat Black"/>
              </a:rPr>
              <a:t>Educational course (Heading):</a:t>
            </a:r>
            <a:endParaRPr lang="en-US" altLang="en-GB" sz="2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7" name="Google Shape;197;p38"/>
          <p:cNvSpPr txBox="1"/>
          <p:nvPr/>
        </p:nvSpPr>
        <p:spPr>
          <a:xfrm>
            <a:off x="360000" y="1275715"/>
            <a:ext cx="8424000" cy="17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Market:</a:t>
            </a:r>
            <a:r>
              <a:rPr lang="en-US" altLang="en-GB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Education.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target audience:</a:t>
            </a:r>
            <a:r>
              <a:rPr lang="en-US" altLang="en-GB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Students and parents.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US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education course should help you get better grades, just like working as it can make your savings rise.</a:t>
            </a:r>
            <a:endParaRPr lang="en-US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38"/>
          <p:cNvSpPr txBox="1"/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Product heading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/>
          <p:nvPr/>
        </p:nvSpPr>
        <p:spPr>
          <a:xfrm>
            <a:off x="360000" y="360000"/>
            <a:ext cx="7390800" cy="6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Heading </a:t>
            </a:r>
            <a:r>
              <a:rPr lang="en-GB" sz="2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(</a:t>
            </a:r>
            <a:r>
              <a:rPr lang="en-GB" sz="2800"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hypothesis</a:t>
            </a:r>
            <a:r>
              <a:rPr lang="en-GB" sz="2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 № 1)</a:t>
            </a:r>
            <a:endParaRPr sz="2800" b="0" i="0" u="none" strike="noStrike" cap="none">
              <a:solidFill>
                <a:srgbClr val="00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04" name="Google Shape;204;p39"/>
          <p:cNvSpPr txBox="1"/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Graphs from product</a:t>
            </a:r>
            <a:endParaRPr lang="en-US"/>
          </a:p>
        </p:txBody>
      </p:sp>
      <p:sp>
        <p:nvSpPr>
          <p:cNvPr id="205" name="Google Shape;205;p39"/>
          <p:cNvSpPr/>
          <p:nvPr/>
        </p:nvSpPr>
        <p:spPr>
          <a:xfrm>
            <a:off x="554175" y="1217275"/>
            <a:ext cx="2651700" cy="183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>
                <a:latin typeface="Montserrat"/>
                <a:ea typeface="Montserrat"/>
                <a:cs typeface="Montserrat"/>
                <a:sym typeface="Montserrat"/>
              </a:rPr>
              <a:t>Diagram </a:t>
            </a:r>
            <a:r>
              <a:rPr lang="en-GB"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6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9"/>
          <p:cNvSpPr/>
          <p:nvPr/>
        </p:nvSpPr>
        <p:spPr>
          <a:xfrm>
            <a:off x="3379398" y="1217275"/>
            <a:ext cx="2651700" cy="183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Diagram </a:t>
            </a:r>
            <a:r>
              <a:rPr lang="en-GB"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7" name="Google Shape;207;p39"/>
          <p:cNvSpPr/>
          <p:nvPr/>
        </p:nvSpPr>
        <p:spPr>
          <a:xfrm>
            <a:off x="6132180" y="1217275"/>
            <a:ext cx="2651700" cy="183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Diagram </a:t>
            </a:r>
            <a:r>
              <a:rPr lang="en-GB"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8" name="Google Shape;208;p39"/>
          <p:cNvSpPr txBox="1"/>
          <p:nvPr/>
        </p:nvSpPr>
        <p:spPr>
          <a:xfrm>
            <a:off x="563825" y="3198875"/>
            <a:ext cx="2651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altLang="en-US"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Students' Math Grades</a:t>
            </a:r>
            <a:endParaRPr lang="en-US" altLang="en-US"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39"/>
          <p:cNvSpPr txBox="1"/>
          <p:nvPr/>
        </p:nvSpPr>
        <p:spPr>
          <a:xfrm>
            <a:off x="3379400" y="3198875"/>
            <a:ext cx="2651700" cy="612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 alt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Students' Reading Grades</a:t>
            </a:r>
            <a:endParaRPr lang="en-US" altLang="en-US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39"/>
          <p:cNvSpPr txBox="1"/>
          <p:nvPr/>
        </p:nvSpPr>
        <p:spPr>
          <a:xfrm>
            <a:off x="6132175" y="3198875"/>
            <a:ext cx="2651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 altLang="en-US">
                <a:latin typeface="Montserrat"/>
                <a:ea typeface="Montserrat"/>
                <a:cs typeface="Montserrat"/>
                <a:sym typeface="Montserrat"/>
              </a:rPr>
              <a:t>Students' Writing Grades</a:t>
            </a:r>
            <a:endParaRPr lang="en-US" altLang="en-US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" name="Picture 0" descr="math hi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755" y="1019810"/>
            <a:ext cx="3007360" cy="2281555"/>
          </a:xfrm>
          <a:prstGeom prst="rect">
            <a:avLst/>
          </a:prstGeom>
        </p:spPr>
      </p:pic>
      <p:pic>
        <p:nvPicPr>
          <p:cNvPr id="2" name="Picture 1" descr="reading sco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1094740"/>
            <a:ext cx="2930525" cy="2206625"/>
          </a:xfrm>
          <a:prstGeom prst="rect">
            <a:avLst/>
          </a:prstGeom>
        </p:spPr>
      </p:pic>
      <p:pic>
        <p:nvPicPr>
          <p:cNvPr id="3" name="Picture 2" descr="writing hi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0" y="1019810"/>
            <a:ext cx="3072765" cy="22472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/>
          <p:cNvSpPr txBox="1"/>
          <p:nvPr/>
        </p:nvSpPr>
        <p:spPr>
          <a:xfrm>
            <a:off x="360000" y="360000"/>
            <a:ext cx="7390800" cy="6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Heading </a:t>
            </a:r>
            <a:r>
              <a:rPr lang="en-GB" sz="2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(</a:t>
            </a:r>
            <a:r>
              <a:rPr lang="en-GB" sz="2800"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hypothesis</a:t>
            </a:r>
            <a:r>
              <a:rPr lang="en-GB" sz="2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 № 2)</a:t>
            </a:r>
            <a:endParaRPr sz="2800" b="0" i="0" u="none" strike="noStrike" cap="none">
              <a:solidFill>
                <a:srgbClr val="00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16" name="Google Shape;216;p40"/>
          <p:cNvSpPr txBox="1"/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Graphs from product</a:t>
            </a:r>
            <a:endParaRPr lang="en-US"/>
          </a:p>
        </p:txBody>
      </p:sp>
      <p:sp>
        <p:nvSpPr>
          <p:cNvPr id="217" name="Google Shape;217;p40"/>
          <p:cNvSpPr/>
          <p:nvPr/>
        </p:nvSpPr>
        <p:spPr>
          <a:xfrm>
            <a:off x="3347540" y="1217275"/>
            <a:ext cx="2651700" cy="183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Diagram </a:t>
            </a:r>
            <a:r>
              <a:rPr lang="en-GB"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6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40"/>
          <p:cNvSpPr txBox="1"/>
          <p:nvPr/>
        </p:nvSpPr>
        <p:spPr>
          <a:xfrm>
            <a:off x="3368620" y="3779265"/>
            <a:ext cx="2651700" cy="827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Ratio of students that finished the course and students that didn’t</a:t>
            </a:r>
            <a:endParaRPr lang="en-US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 descr="piechart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6765" y="843915"/>
            <a:ext cx="2672715" cy="27914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/>
        </p:nvSpPr>
        <p:spPr>
          <a:xfrm>
            <a:off x="360000" y="360000"/>
            <a:ext cx="7390800" cy="6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800"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Sum of what you learned from graphs</a:t>
            </a:r>
            <a:endParaRPr sz="2800">
              <a:highlight>
                <a:srgbClr val="FFFFFF"/>
              </a:highlight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2800">
              <a:highlight>
                <a:srgbClr val="FFFFFF"/>
              </a:highlight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28" name="Google Shape;228;p41"/>
          <p:cNvSpPr txBox="1"/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Sum</a:t>
            </a:r>
            <a:endParaRPr lang="en-US"/>
          </a:p>
        </p:txBody>
      </p:sp>
      <p:sp>
        <p:nvSpPr>
          <p:cNvPr id="229" name="Google Shape;229;p41"/>
          <p:cNvSpPr txBox="1"/>
          <p:nvPr/>
        </p:nvSpPr>
        <p:spPr>
          <a:xfrm>
            <a:off x="368800" y="1191600"/>
            <a:ext cx="6894900" cy="22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3060" marR="0" lvl="0" indent="-24955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Montserrat"/>
              <a:buChar char="➔"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A lot of students got good grades in math.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marL="353060" marR="0" lvl="0" indent="-24955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Montserrat"/>
              <a:buChar char="➔"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A lot of students got good grades in reading.</a:t>
            </a:r>
            <a:endParaRPr lang="en-US" sz="2000">
              <a:latin typeface="Montserrat"/>
              <a:ea typeface="Montserrat"/>
              <a:cs typeface="Montserrat"/>
              <a:sym typeface="Montserrat"/>
            </a:endParaRPr>
          </a:p>
          <a:p>
            <a:pPr marL="353060" marR="0" lvl="0" indent="-24955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Montserrat"/>
              <a:buChar char="➔"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A lot of students got good grades in writing.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marL="353060" marR="0" lvl="0" indent="-249555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Montserrat"/>
              <a:buChar char="➔"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The amount of students that completed the course is only a little more than a quarter of all students in the course.</a:t>
            </a:r>
            <a:endParaRPr lang="en-US"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goritmika (May 2021)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833AE0"/>
      </a:accent1>
      <a:accent2>
        <a:srgbClr val="FF7842"/>
      </a:accent2>
      <a:accent3>
        <a:srgbClr val="88DBF2"/>
      </a:accent3>
      <a:accent4>
        <a:srgbClr val="38BD60"/>
      </a:accent4>
      <a:accent5>
        <a:srgbClr val="FA82CC"/>
      </a:accent5>
      <a:accent6>
        <a:srgbClr val="FFDC40"/>
      </a:accent6>
      <a:hlink>
        <a:srgbClr val="833AE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lgoritmika (May 2021) 02">
  <a:themeElements>
    <a:clrScheme name="Simple Light">
      <a:dk1>
        <a:srgbClr val="000000"/>
      </a:dk1>
      <a:lt1>
        <a:srgbClr val="FFFFFE"/>
      </a:lt1>
      <a:dk2>
        <a:srgbClr val="5E5EFF"/>
      </a:dk2>
      <a:lt2>
        <a:srgbClr val="8EE85D"/>
      </a:lt2>
      <a:accent1>
        <a:srgbClr val="833AE0"/>
      </a:accent1>
      <a:accent2>
        <a:srgbClr val="FF7842"/>
      </a:accent2>
      <a:accent3>
        <a:srgbClr val="88DBF2"/>
      </a:accent3>
      <a:accent4>
        <a:srgbClr val="38BD60"/>
      </a:accent4>
      <a:accent5>
        <a:srgbClr val="FA82CC"/>
      </a:accent5>
      <a:accent6>
        <a:srgbClr val="FFDC40"/>
      </a:accent6>
      <a:hlink>
        <a:srgbClr val="833AE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</Words>
  <Application>WPS Presentation</Application>
  <PresentationFormat/>
  <Paragraphs>47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SimSun</vt:lpstr>
      <vt:lpstr>Wingdings</vt:lpstr>
      <vt:lpstr>Arial</vt:lpstr>
      <vt:lpstr>Montserrat Black</vt:lpstr>
      <vt:lpstr>Montserrat</vt:lpstr>
      <vt:lpstr>Montserrat Medium</vt:lpstr>
      <vt:lpstr>Montserrat ExtraBold</vt:lpstr>
      <vt:lpstr>Microsoft YaHei</vt:lpstr>
      <vt:lpstr>Arial Unicode MS</vt:lpstr>
      <vt:lpstr>Algoritmika (May 2021)</vt:lpstr>
      <vt:lpstr>Algoritmika (May 2021) 02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Youstina Metri</cp:lastModifiedBy>
  <cp:revision>1</cp:revision>
  <dcterms:created xsi:type="dcterms:W3CDTF">2026-06-01T14:17:42Z</dcterms:created>
  <dcterms:modified xsi:type="dcterms:W3CDTF">2026-06-01T14:17:42Z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5B6AC288FE104F4D9F92A10AB3850B1D_12</vt:lpwstr>
  </property>
</Properties>
</file>